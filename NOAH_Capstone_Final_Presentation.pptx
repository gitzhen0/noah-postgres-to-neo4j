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NYU SPS MASY · CAPSTONE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0F172A"/>
                </a:solidFill>
                <a:latin typeface="Calibri"/>
              </a:rPr>
              <a:t>Automated RDBMS → Knowledge Graph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A natural-language interface over NYC affordable housing data, built on 8,604 real housing projects and validated end-to-end against PostgreSQL + PostGIS.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120640"/>
            <a:ext cx="36576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Zhen Yang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Project Sponsor: Dr. Andres Fortino · Digital Forge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Final Defense ·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Relational databases optimize for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storage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, not for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PostgreSQL  ·  21 lines  ·  174.4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5760720" cy="3474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5486400" cy="3255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-- "All ZIPs within 2 hops of 10001"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WITH RECURSIVE reachable(zip_code, depth) AS (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SELECT zip_code, 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FROM   zip_shapes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WHERE  zip_code = '10001'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UNION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SELECT CASE WHEN a.zip_code = r.zip_code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     THEN b.zip_code ELSE a.zip_code END,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r.depth + 1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FROM   reachable 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JOIN   zip_shapes a JOIN zip_shapes 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ON  a.zip_code &lt; b.zip_code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 AND ST_Touches(a.geom, b.geom)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ON   r.zip_code IN (a.zip_code, b.zip_code)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WHERE  r.depth &lt; 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SELECT DISTINCT zip_code, MIN(depth)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FROM reachable GROUP BY zip_code;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Neo4j  ·  4 lines  ·  4.6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03520" cy="3474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04288"/>
            <a:ext cx="5029200" cy="3255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94A3B8"/>
                </a:solidFill>
                <a:latin typeface="Consolas"/>
              </a:rPr>
              <a:t>// same question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MATCH path = (z:ZipCode {zip_code:'10001'})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  -[:NEIGHBORS*0..2]-(n:ZipCode)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WITH  n.zip_code AS zip_code,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min(length(path)) AS min_depth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RETURN zip_code, min_depth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ORDER BY min_depth, zip_code;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Same question. Different paradigm.  5× less code  ·  37× faster runtime.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Build a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reusable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 conversion bot — and prove it on real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Convert the NOAH (Naturally Occurring Affordable Housing) PostgreSQL database — 8,604 projects, 177 NYC ZIPs, 2,225 census tracts, PostGIS geometry — into a Neo4j knowledge graph, with a natural-language query interface that non-technical users can actually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" y="374903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3931919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  <a:latin typeface="Calibri"/>
              </a:rPr>
              <a:t>8,604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7" y="470915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housing projects migrated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1227" y="374903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1227" y="3931919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  <a:latin typeface="Calibri"/>
              </a:rPr>
              <a:t>≥ 75 %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387" y="470915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Text2Cypher accuracy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74903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7" y="3931919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470915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data loss on referential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067" y="374903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9067" y="3931919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  <a:latin typeface="Calibri"/>
              </a:rPr>
              <a:t>12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6227" y="470915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from proposal to final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Four SMART objectives from the project specification, each with a concrete validation artifact committed in the repo.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BUILT ON PUBLISHED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Three papers, synthesized into a production-ready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567" y="210312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167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FORMAL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26060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De Virgilio et al., 2013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ACM GRADES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47472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Formal conversion rules: tables → nodes, foreign keys → relationships, join tables → direct edges. Exploits RDBMS constraints to preserve semantic integrity.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210312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647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26060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Rel2Graph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Zhao et al., 2023  ·  arXiv:2310.01080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347472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Automated knowledge graph construction from multiple relational sources, validated on Spider / KaggleDBQA benchmarks. Proves the pipeline shape scales beyond a single schema.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210312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26060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Data2Neo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Minder et al., 2024  ·  arXiv:2406.04995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347472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Open-source Python patterns for incremental Neo4j loading with configurable mapping. Operational blueprint for batch MERGE with idempotency.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My contribution: synthesize all three into a single config-driven pipeline, add an LLM-powered schema interpreter, and validate on a real PostGIS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Five components.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One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 config 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336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887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1087" y="306324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5679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7119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Schema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7119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metadata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7319" y="306324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1911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3351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 Interpreter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3351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→ draft 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3551" y="306324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9583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Mapping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9583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YAML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9783" y="306324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4375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5815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Migrator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5815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MERGE loader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6015" y="306324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90607" y="25603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2047" y="30175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Neo4j + Auditor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2047" y="34290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Everything except the Data Migrator is stateless.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Schema Analyzer introspects PG metadata (tables, FKs, PostGIS types).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LLM Interpreter produces a draft mapping_rules.yaml that a human reviews.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None of the components contain NOAH-specific logic — the YAML is the only input that changes across datasets.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THE TARGET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5 node labels, 6 relationship types,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PostGIS-native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11680"/>
          <a:ext cx="5394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219456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Node label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HousingProject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8,604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Socrata hg8x-zxpr</a:t>
                      </a:r>
                    </a:p>
                  </a:txBody>
                  <a:tcPr marL="73152" marR="73152" marT="36576" marB="36576" anchor="ctr"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ZipCode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PostGIS geometry</a:t>
                      </a:r>
                    </a:p>
                  </a:txBody>
                  <a:tcPr marL="73152" marR="73152" marT="36576" marB="36576" anchor="ctr"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Demographic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ACS 2022</a:t>
                      </a:r>
                    </a:p>
                  </a:txBody>
                  <a:tcPr marL="73152" marR="73152" marT="36576" marB="36576" anchor="ctr"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AffordabilityAnalysis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per-ZIP rollup</a:t>
                      </a:r>
                    </a:p>
                  </a:txBody>
                  <a:tcPr marL="73152" marR="73152" marT="36576" marB="36576" anchor="ctr"/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RentBurden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2,225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census tract-level</a:t>
                      </a: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2011680"/>
          <a:ext cx="5394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219456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Relationship type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LOCATED_IN_ZIP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6,851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FK (postcode)</a:t>
                      </a:r>
                    </a:p>
                  </a:txBody>
                  <a:tcPr marL="73152" marR="73152" marT="36576" marB="36576" anchor="ctr"/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HAS_DEMOGRAPHICS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FK · new in v2</a:t>
                      </a:r>
                    </a:p>
                  </a:txBody>
                  <a:tcPr marL="73152" marR="73152" marT="36576" marB="36576" anchor="ctr"/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HAS_AFFORDABILITY_DATA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marL="73152" marR="73152" marT="36576" marB="36576" anchor="ctr"/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IN_CENSUS_TRACT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5,426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computed</a:t>
                      </a:r>
                    </a:p>
                  </a:txBody>
                  <a:tcPr marL="73152" marR="73152" marT="36576" marB="36576" anchor="ctr"/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NEIGHBORS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spatial · bidir.</a:t>
                      </a:r>
                    </a:p>
                  </a:txBody>
                  <a:tcPr marL="73152" marR="73152" marT="36576" marB="36576" anchor="ctr"/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CONTAINS_TRACT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4,050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ZipCode sits at the hub. NEIGHBORS is self-referential and bidirectional, enabling multi-hop spatial queries — the central win of the graph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LIVE DEMO ·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Clean Neo4j → full graph in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~10 seconds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1155680" cy="4572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751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During the live defense: Neo4j Browser shows count = 0  →  terminal runs migrate  →  Neo4j Browser shows count = 11,183 and renders the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STEP 1   Migrate PG → Neo4j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5760720" cy="3017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5486400" cy="2798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EE7B7"/>
                </a:solidFill>
                <a:latin typeface="Consolas"/>
              </a:rPr>
              <a:t>$ python main.py migrate --clear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6EE7B7"/>
                </a:solidFill>
                <a:latin typeface="Consolas"/>
              </a:rPr>
              <a:t>    --mapping-rules outputs/mapping_draft.yaml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[INFO] Clearing Neo4j database...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[INFO] Setting up constraints + indexes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HousingProject         8,604 nodes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ZipCode                  177  ·  Demographic 176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AffordabilityAnalysis    177  ·  RentBurden 2,225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LOCATED_IN_ZIP         6,851  (35 orphan skipped)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HAS_DEMOGRAPHICS         176  ← new in v2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HAS_AFFORDABILITY_DATA   177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IN_CENSUS_TRACT        5,426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NEIGHBORS                392  ·  CONTAINS_TRACT 4,050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FDE68A"/>
                </a:solidFill>
                <a:latin typeface="Consolas"/>
              </a:rPr>
              <a:t>11,359 nodes · 17,072 relationships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real  7.89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STEP 2   Verify integrity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7180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081528"/>
            <a:ext cx="5029200" cy="2798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EE7B7"/>
                </a:solidFill>
                <a:latin typeface="Consolas"/>
              </a:rPr>
              <a:t>$ python main.py audit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Node Count Verification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MATCH   all 5 labels, PG↔Neo4j parity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Relationship Counts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MATCH   LOCATED_IN_ZIP    6,851 / 6,851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MATCH   HAS_DEMOGRAPHICS    176 /   176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MATCH   HAS_AFFORDABILITY   177 /   177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MATCH   + 3 computed/spatial rels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Data Sample Verification (20 rows per label)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✓ 100.0%  on all 5 labels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FDE68A"/>
                </a:solidFill>
                <a:latin typeface="Consolas"/>
              </a:rPr>
              <a:t>INFO   LOCATED_IN_ZIP — 35 orphan FKs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       (expected; postcodes outside NYC)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6EE7B7"/>
                </a:solidFill>
                <a:latin typeface="Consolas"/>
              </a:rPr>
              <a:t>Overall Status: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Total: migrate 7.89 s + audit 1.32 s ≈ ~10 seconds for 11k nodes / 17k relationships / 100 % integrity / sample-verified. Idempotent — safe to rerun.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Every relationship accounted for.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116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2011680"/>
                <a:gridCol w="1645920"/>
                <a:gridCol w="16459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Neo4j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Orphans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LOCATED_IN_ZIP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6,851 expected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6,851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35 (INFO)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MATCH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HAS_DEMOGRAPHICS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FK · new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MATCH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HAS_AFFORDABILITY_DATA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MATCH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IN_CENSUS_TRACT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Computed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5,426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OK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NEIGHBORS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392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OK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CONTAINS_TRACT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4,050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✓ OK</a:t>
                      </a:r>
                    </a:p>
                  </a:txBody>
                  <a:tcPr marL="73152" marR="73152" marT="36576" marB="36576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On the "35 orphans": these are housing projects whose postcode falls outside NYC's 177-ZIP coverage (adjacent NJ/PA, PO boxes). MERGE correctly skips them. Surfaced as INFO, not WARN — that distinction is the difference between an audit that cries wolf and an audit that tells the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LIVE DEMO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Natural language → Cypher →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Streamlit "Ask" page takes English, generates Cypher via Claude, executes it against Neo4j, and explains results in plain English — all in one round-trip.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0F172A"/>
                </a:solidFill>
                <a:latin typeface="Calibri"/>
              </a:rPr>
              <a:t>"How many housing projects are in each borough?"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Generated Cypher  (via claude-sonnet-4-5)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14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0241280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MATCH (h:HousingProject) WHERE h.borough IS NOT NULL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RETURN h.borough AS borough, count(h) AS projects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ORDER BY projects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Brooklyn 2,414  ·  Bronx 2,093  ·  Manhattan 1,833  ·  Queens 1,612  ·  Staten Island 652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Live: http://localhost:8505/Ask  —  embedded as iframe inside the HTML deck.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BENCHMARKING THE NL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Text2Cypher: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95%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 on a 20-question benchmark.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5029200" cy="3200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 i="0">
                <a:solidFill>
                  <a:srgbClr val="059669"/>
                </a:solidFill>
                <a:latin typeface="Calibri"/>
              </a:rPr>
              <a:t>95 %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/>
              </a:rPr>
              <a:t>19 of 20 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(75% target · 20 ppts over plan)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210312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201168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Difficulty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Questions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Pass rate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Easy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6 / 6  = 100 %</a:t>
                      </a:r>
                    </a:p>
                  </a:txBody>
                  <a:tcPr marL="73152" marR="73152" marT="36576" marB="36576" anchor="ctr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10 / 10 = 100 %</a:t>
                      </a:r>
                    </a:p>
                  </a:txBody>
                  <a:tcPr marL="73152" marR="73152" marT="36576" marB="36576" anchor="ctr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3 / 4  =  75 %</a:t>
                      </a: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5212080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The only miss was a hard-difficulty question requiring multi-clause subqueries. Grading: 4 dimensions per question — schema correctness, syntactic validity, execution result parity vs ground truth, and explanation readability.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LIVE DEMO ·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From query to picture — variable-length paths, visualized.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Streamlit "Explore" page executes ad-hoc Cypher and renders results as an interactive force-directed graph (pyvis). Useful for ZIP-to-ZIP neighborhood traversals that are hard to intuit from tabular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Example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10881360" cy="1060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MATCH path = (z:ZipCode {zip_code:'10001'})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            -[:NEIGHBORS*0..2]-(n:ZipCode)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RETURN path LIMIT 50;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916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Rendered inside Streamlit Explore  ·  http://localhost:8505/Explore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•  Starts at ZIP 10001 (Manhattan), expands outward by shared-boundary edges.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•  Each hop recomputed in &lt;5 ms; visualization refreshes in &lt;1 s for 50-node path.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4155"/>
                </a:solidFill>
                <a:latin typeface="Calibri"/>
              </a:rPr>
              <a:t>•  In SQL this is a 21-line WITH RECURSIVE; in Cypher it is 4 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PERFORMANCE  ·  POSTGRESQL VS NEO4J  ·  10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Right tool for the right query shape.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1168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2011680"/>
                <a:gridCol w="2011680"/>
                <a:gridCol w="256032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Query category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PG median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Neo4j median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Aggregation (GROUP BY)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8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24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PG wins (4.4×)</a:t>
                      </a:r>
                    </a:p>
                  </a:txBody>
                  <a:tcPr marL="73152" marR="73152" marT="36576" marB="36576" anchor="ctr"/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Single-hop FK traversal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14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9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Neo4j wins (1.6×)</a:t>
                      </a:r>
                    </a:p>
                  </a:txBody>
                  <a:tcPr marL="73152" marR="73152" marT="36576" marB="36576" anchor="ctr"/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Multi-hop / recursive traversal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174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5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Neo4j wins (37×)</a:t>
                      </a:r>
                    </a:p>
                  </a:txBody>
                  <a:tcPr marL="73152" marR="73152" marT="36576" marB="36576" anchor="ctr"/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Spatial ST_* predicate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61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18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Neo4j wins (3.4×)</a:t>
                      </a:r>
                    </a:p>
                  </a:txBody>
                  <a:tcPr marL="73152" marR="73152" marT="36576" marB="36576" anchor="ctr"/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Analytical with CTE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112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32 ms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Neo4j wins (3.5×)</a:t>
                      </a: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Neo4j is not universally faster. It wins on shapes SQL struggles with — variable-length traversal, pre-materialized spatial adjacency — and loses on bulk aggregation. The honest claim is "right tool for query shape," not "always faster."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THE QUERY THAT DEFINES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"All ZIPs within 2 hops of 10001" —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37× faster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4754880" cy="3657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7744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 i="0">
                <a:solidFill>
                  <a:srgbClr val="059669"/>
                </a:solidFill>
                <a:latin typeface="Calibri"/>
              </a:rPr>
              <a:t>37.7 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59669"/>
                </a:solidFill>
                <a:latin typeface="Calibri"/>
              </a:rPr>
              <a:t>PG 174.4 ms  →  Neo4j 4.6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median of 10 warm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21 lines of SQL  →  4 lines of Cypher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Why graph wins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Path-shaped query: expressed natively as a pattern, not approximated by joins.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Pre-computed edges: NEIGHBORS materialized at migrate time; query is O(edges), not O(n²).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 plan blowup: depth is a parameter, not a schema change. 3-hop = *0..3.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Readable by a non-engineer in the room.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Full benchmark: outputs/performance_report.json.  10 queries · 5 categories · warm cache.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LIVE DEMO · 4 OF 4  ·  NOT JUST NOAH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Three more databases.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Same engine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. Under 4 seconds each.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92024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34640"/>
                <a:gridCol w="914400"/>
                <a:gridCol w="1463040"/>
                <a:gridCol w="1463040"/>
                <a:gridCol w="1554480"/>
                <a:gridCol w="155448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Tables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Migrate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Orphans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noah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NYC housing · PostGIS  (reference)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11,359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17,072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7.89 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35 INFO*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chinook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Music store (Apple-iTunes shape)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6,892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24,529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2.71 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/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northwind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Wholesale orders (classic B2B)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1,050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4,807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1.52 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/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onsolas"/>
                        </a:rPr>
                        <a:t>pagila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DVD rental (Postgres official)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25,758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72,024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59669"/>
                          </a:solidFill>
                          <a:latin typeface="Calibri"/>
                        </a:rPr>
                        <a:t>3.36 s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18007" y="47091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48006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CHINOOK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5074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Self-join recursion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54406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Employee.reports_to becomes a REPORTS_TO edge. Org-chart traversal in Cypher: *0..n.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47091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647" y="48006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NORTHWIND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5074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Composite-PK junction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54406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order_details collapsed into (Order)-[CONTAINS {qty,price}]-&gt;(Product).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47091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407" y="48006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PAGILA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5074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Layered geography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407" y="54406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Address → City → Country plus two M2M junctions (film_actor, film_category).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* NOAH's 35 orphans are legit out-of-NYC postcodes. Every FK in the 3 new datasets landed. Same src/noah_converter/ code — three ~200-line YAML files were the only input.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WHY THIS MATTERS BEYOND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Three audiences, one tool.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567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167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Policy analysts &amp; researchers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27889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  <a:latin typeface="Calibri"/>
              </a:rPr>
              <a:t>Ask questions in English, get cited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Skip the SQL class — focus on the housing question.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Cypher result comes with a paragraph explanation and a GeoJSON export.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Schema-aware prompting prevents hallucinated column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047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City data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27889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  <a:latin typeface="Calibri"/>
              </a:rPr>
              <a:t>Drop-in migration pipeline for any PostgreSQL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YAML-configured; no per-dataset code to maintain.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Idempotent MERGE + audit report make re-migration safe.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Proved on 4 unrelated schemas (NOAH + Chinook + Northwind + Pagila).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Educators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27889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  <a:latin typeface="Calibri"/>
              </a:rPr>
              <a:t>Complete teaching 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27" y="3291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Jupyter notebook with graded labs (RDBMS → graph intuition).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Public GitHub with Docker Compose; clone-and-run in 5 min.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•  Open-source; Digital Forge Lab can reuse verbatim.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HONEST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What this project </a:t>
            </a:r>
            <a:r>
              <a:rPr sz="3200" b="1" i="0">
                <a:solidFill>
                  <a:srgbClr val="2563EB"/>
                </a:solidFill>
                <a:latin typeface="Calibri"/>
              </a:rPr>
              <a:t>doesn't</a:t>
            </a:r>
            <a:r>
              <a:rPr sz="3200" b="1" i="0">
                <a:solidFill>
                  <a:srgbClr val="0F172A"/>
                </a:solidFill>
                <a:latin typeface="Calibri"/>
              </a:rPr>
              <a:t> claim to solve.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Not real-time CDC. Migration is batch, re-runnable; streaming updates are out of scope.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Not a general text-to-SQL/Cypher product. Schema-aware prompting works on this graph shape; open-domain NL querying over arbitrary schemas is a research problem.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Not horizontally scaled. Tested on single-node Neo4j 5.15. No Fabric/cluster work.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StreetEasy rent substitution. The originally planned median rent from StreetEasy was unavailable; replaced by ACS 2022 rent-burden rates. Documented in the audit report.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35 FK orphans in LOCATED_IN_ZIP are real data-quality issues in the source dump — not a bug in the pipeline.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Text2Cypher costs money per query (Claude API). Not zero-marginal-cost unless self-hosted.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THREE THINGS I'D TELL NEXT SEMESTER'S COHORT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Lessons learned.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8483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Audit semantics are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23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Early audits reported 35 expected skips as WARN. That's cry-wolf behavior. Distinguishing INFO ("expected behavior") from WARN ("real data loss") was a late-stage change that made the final report trustworthy. If the audit cannot be trusted, the pipeline cannot be trusted.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5643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LLM = draftsperson, not decider.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947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Claude produced the initial mapping YAML in 30 seconds. I spent an hour reviewing and tuning it. That ratio is correct. The LLM is a force-multiplier for the boilerplate; humans still own the semantic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2803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54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Prove generalization early, not last.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66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The "works on Chinook / Northwind / Pagila" demo was added in the final two weeks. If I had run that test in week 3, I would have caught three config assumptions that were silently NOAH-specific. Generalization is a test, not a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0F172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563EB"/>
                </a:solidFill>
                <a:latin typeface="Consolas"/>
              </a:rPr>
              <a:t>github.com/gitzhen0/noah-postgres-to-neo4j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Evidence committed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outputs/audit_report.json  — machine-generated PASS record, timestamped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outputs/benchmark_report.json  — 20-question Text2Cypher grading output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outputs/performance_report.json  — 10-query benchmark, category_summary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outputs/agnostic_benchmark.json  — 3-dataset generalization proof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tests/unit/test_audit_semantics.py  — 9 unit tests covering audit logic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docs/CAPSTONE_REPORT.pdf  — long-form write-up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NOAH RDBMS → Knowledge Graph · Zhen Yang · NYU SPS MASY Capstone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